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683" r:id="rId2"/>
    <p:sldId id="684" r:id="rId3"/>
    <p:sldId id="685" r:id="rId4"/>
    <p:sldId id="686" r:id="rId5"/>
    <p:sldId id="687" r:id="rId6"/>
    <p:sldId id="688" r:id="rId7"/>
    <p:sldId id="689" r:id="rId8"/>
    <p:sldId id="696" r:id="rId9"/>
    <p:sldId id="690" r:id="rId10"/>
    <p:sldId id="691" r:id="rId11"/>
    <p:sldId id="692" r:id="rId12"/>
    <p:sldId id="693" r:id="rId13"/>
    <p:sldId id="694" r:id="rId14"/>
    <p:sldId id="695" r:id="rId15"/>
    <p:sldId id="697" r:id="rId16"/>
    <p:sldId id="703" r:id="rId17"/>
    <p:sldId id="698" r:id="rId18"/>
    <p:sldId id="699" r:id="rId19"/>
    <p:sldId id="700" r:id="rId20"/>
    <p:sldId id="701" r:id="rId21"/>
    <p:sldId id="702" r:id="rId22"/>
    <p:sldId id="704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зентация" id="{F36EC60D-C29D-D94A-B869-DA71CAB91866}">
          <p14:sldIdLst>
            <p14:sldId id="683"/>
            <p14:sldId id="684"/>
            <p14:sldId id="685"/>
            <p14:sldId id="686"/>
            <p14:sldId id="687"/>
            <p14:sldId id="688"/>
            <p14:sldId id="689"/>
            <p14:sldId id="696"/>
            <p14:sldId id="690"/>
            <p14:sldId id="691"/>
            <p14:sldId id="692"/>
            <p14:sldId id="693"/>
            <p14:sldId id="694"/>
            <p14:sldId id="695"/>
            <p14:sldId id="697"/>
            <p14:sldId id="703"/>
            <p14:sldId id="698"/>
            <p14:sldId id="699"/>
            <p14:sldId id="700"/>
            <p14:sldId id="701"/>
            <p14:sldId id="702"/>
            <p14:sldId id="7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pos="7469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FF5"/>
    <a:srgbClr val="6E7180"/>
    <a:srgbClr val="BCBFCC"/>
    <a:srgbClr val="D3D6E0"/>
    <a:srgbClr val="2ED0FF"/>
    <a:srgbClr val="40424D"/>
    <a:srgbClr val="F5F6FC"/>
    <a:srgbClr val="14141A"/>
    <a:srgbClr val="9DA2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2603" autoAdjust="0"/>
  </p:normalViewPr>
  <p:slideViewPr>
    <p:cSldViewPr snapToGrid="0" showGuides="1">
      <p:cViewPr varScale="1">
        <p:scale>
          <a:sx n="117" d="100"/>
          <a:sy n="117" d="100"/>
        </p:scale>
        <p:origin x="944" y="184"/>
      </p:cViewPr>
      <p:guideLst>
        <p:guide orient="horz" pos="232"/>
        <p:guide pos="211"/>
        <p:guide pos="7469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ACB30-BAB5-4F48-BA72-0921CF0788A4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99252-6BD0-43A2-AF1B-3B5FE4277D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53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обложки презентации с цветным фоном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99252-6BD0-43A2-AF1B-3B5FE4277D1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549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99252-6BD0-43A2-AF1B-3B5FE4277D1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71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99252-6BD0-43A2-AF1B-3B5FE4277D1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024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99252-6BD0-43A2-AF1B-3B5FE4277D1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23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99252-6BD0-43A2-AF1B-3B5FE4277D1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498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99252-6BD0-43A2-AF1B-3B5FE4277D1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11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96F95-9405-1E52-5EBE-7D84C9517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82821A-CEB7-0A0F-9C01-C7234023B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3D9805-92CF-76D6-6AD1-498C3DBF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1D03C-0E69-4AC7-9582-709DC7859594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9A714D-3451-9052-3F09-56BAAB4E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1D3D1F-72D7-8A93-9F0B-4E6EE3BF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E9DF-436C-4C10-9357-5802E8C9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5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4A611FD-BD24-8796-ACCA-DE360512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1D03C-0E69-4AC7-9582-709DC7859594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BC74E-9E0E-9160-5105-6E177B32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73BAE-5484-64CB-3019-9E827DBF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E9DF-436C-4C10-9357-5802E8C9C66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F713A4DD-FD55-2E3C-78F8-1B378AE9F98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52642" y="951347"/>
            <a:ext cx="3501158" cy="4765962"/>
          </a:xfrm>
          <a:prstGeom prst="round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7A857EE-A302-53E9-B074-75483C7D62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950627"/>
            <a:ext cx="4972050" cy="4765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8796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4A611FD-BD24-8796-ACCA-DE360512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1D03C-0E69-4AC7-9582-709DC7859594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BC74E-9E0E-9160-5105-6E177B32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73BAE-5484-64CB-3019-9E827DBF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E9DF-436C-4C10-9357-5802E8C9C665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49A0F6DE-5230-C5BF-CAC8-8C285B5C0B6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43050" y="1874694"/>
            <a:ext cx="2641600" cy="2641600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AF3122A0-C305-D032-7083-BCC4D1DF6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955886" y="1874694"/>
            <a:ext cx="2641600" cy="2641600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F713A4DD-FD55-2E3C-78F8-1B378AE9F98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68722" y="1874694"/>
            <a:ext cx="2641600" cy="2641600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9E1A4-30D5-E6EE-31C9-238B229433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38901" y="4637088"/>
            <a:ext cx="20415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3AF99A52-005C-B895-538F-EE2AF537CA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5923" y="4642140"/>
            <a:ext cx="20415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AEB805F2-A4B8-D2B1-0562-15EC8609FA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945" y="4637088"/>
            <a:ext cx="20415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1712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4A611FD-BD24-8796-ACCA-DE360512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1D03C-0E69-4AC7-9582-709DC7859594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BC74E-9E0E-9160-5105-6E177B32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73BAE-5484-64CB-3019-9E827DBF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E9DF-436C-4C10-9357-5802E8C9C665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49A0F6DE-5230-C5BF-CAC8-8C285B5C0B6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25055" y="1163782"/>
            <a:ext cx="3389746" cy="3648076"/>
          </a:xfrm>
          <a:prstGeom prst="round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AF3122A0-C305-D032-7083-BCC4D1DF6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1127" y="1163782"/>
            <a:ext cx="3389746" cy="3648076"/>
          </a:xfrm>
          <a:prstGeom prst="round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F713A4DD-FD55-2E3C-78F8-1B378AE9F98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77200" y="1163782"/>
            <a:ext cx="3389746" cy="3648076"/>
          </a:xfrm>
          <a:prstGeom prst="round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Добавьте изображение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9E1A4-30D5-E6EE-31C9-238B229433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61148" y="4932652"/>
            <a:ext cx="20415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3AF99A52-005C-B895-538F-EE2AF537CA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1527" y="4937704"/>
            <a:ext cx="20415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AEB805F2-A4B8-D2B1-0562-15EC8609FA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99235" y="4932652"/>
            <a:ext cx="20415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1281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9F815-10CD-034E-C360-870A4F012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367576-19EC-AE28-B505-C91A86B2E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B3520-FB28-80EA-F966-EF478124E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1D03C-0E69-4AC7-9582-709DC7859594}" type="datetimeFigureOut">
              <a:rPr lang="ru-RU" smtClean="0"/>
              <a:t>24.07.2024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FFE79-291C-54C4-6947-0442D5150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24931E-321D-C641-6B2A-5D62599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E9DF-436C-4C10-9357-5802E8C9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4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5.jp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3.jpeg"/><Relationship Id="rId5" Type="http://schemas.openxmlformats.org/officeDocument/2006/relationships/image" Target="../media/image6.png"/><Relationship Id="rId10" Type="http://schemas.openxmlformats.org/officeDocument/2006/relationships/image" Target="../media/image12.jpeg"/><Relationship Id="rId4" Type="http://schemas.openxmlformats.org/officeDocument/2006/relationships/image" Target="../media/image5.sv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3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1.jpeg"/><Relationship Id="rId5" Type="http://schemas.openxmlformats.org/officeDocument/2006/relationships/image" Target="../media/image6.png"/><Relationship Id="rId10" Type="http://schemas.openxmlformats.org/officeDocument/2006/relationships/image" Target="../media/image15.jpg"/><Relationship Id="rId4" Type="http://schemas.openxmlformats.org/officeDocument/2006/relationships/image" Target="../media/image5.sv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53BD2BD-C43B-2181-AD28-0DCC5E968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2325" y="368300"/>
            <a:ext cx="1064713" cy="4116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16369D-311E-029B-EE75-AB681413A5B5}"/>
              </a:ext>
            </a:extLst>
          </p:cNvPr>
          <p:cNvSpPr txBox="1"/>
          <p:nvPr/>
        </p:nvSpPr>
        <p:spPr>
          <a:xfrm>
            <a:off x="262940" y="2551837"/>
            <a:ext cx="111777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>
                <a:solidFill>
                  <a:schemeClr val="bg1"/>
                </a:solidFill>
                <a:latin typeface="+mj-lt"/>
              </a:rPr>
              <a:t>Как мы провели конференцию и почему вам тоже нужна своя?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44008-714C-2298-F412-72DDBA38F6BC}"/>
              </a:ext>
            </a:extLst>
          </p:cNvPr>
          <p:cNvSpPr txBox="1"/>
          <p:nvPr/>
        </p:nvSpPr>
        <p:spPr>
          <a:xfrm>
            <a:off x="10651288" y="6242774"/>
            <a:ext cx="1346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26.07.2024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0563F7-2996-DA78-0ADA-20FCDF5C600E}"/>
              </a:ext>
            </a:extLst>
          </p:cNvPr>
          <p:cNvSpPr txBox="1"/>
          <p:nvPr/>
        </p:nvSpPr>
        <p:spPr>
          <a:xfrm>
            <a:off x="262940" y="6233249"/>
            <a:ext cx="41029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Пироженко Захар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83F0AD-BC0E-0C55-0A45-45CCDD772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300" y="3882330"/>
            <a:ext cx="3371380" cy="24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7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Зачем мы это придумали? 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2B9F07F-0731-2BD3-58FF-C5EF012283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963" y="2200656"/>
            <a:ext cx="1970083" cy="2456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2F90E8-8DEF-0414-D060-5402D8E378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761" y="2200656"/>
            <a:ext cx="1970083" cy="2456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382FDC-643A-319E-918C-807295873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4230" y="2282709"/>
            <a:ext cx="1838482" cy="2292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2CD4D-118C-5892-2493-A4DB22DA1D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098" y="2200656"/>
            <a:ext cx="1970083" cy="2456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B24EA-9F47-F0DB-34F3-A9E9BE7EE8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5237" y="2200656"/>
            <a:ext cx="1970083" cy="2456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6AE40E-017D-8EDB-AC34-4C4A03177883}"/>
              </a:ext>
            </a:extLst>
          </p:cNvPr>
          <p:cNvSpPr txBox="1"/>
          <p:nvPr/>
        </p:nvSpPr>
        <p:spPr>
          <a:xfrm>
            <a:off x="334963" y="4657344"/>
            <a:ext cx="143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Страхование</a:t>
            </a:r>
            <a:endParaRPr lang="en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8549E-4E6D-3951-47AD-7FFE4166F964}"/>
              </a:ext>
            </a:extLst>
          </p:cNvPr>
          <p:cNvSpPr txBox="1"/>
          <p:nvPr/>
        </p:nvSpPr>
        <p:spPr>
          <a:xfrm>
            <a:off x="3292836" y="4697492"/>
            <a:ext cx="48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ЦО</a:t>
            </a:r>
            <a:endParaRPr lang="en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9261B-6F0A-F640-D5D1-1B204E6491F7}"/>
              </a:ext>
            </a:extLst>
          </p:cNvPr>
          <p:cNvSpPr txBox="1"/>
          <p:nvPr/>
        </p:nvSpPr>
        <p:spPr>
          <a:xfrm>
            <a:off x="4970622" y="4657344"/>
            <a:ext cx="178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Урегулирование</a:t>
            </a:r>
            <a:endParaRPr lang="en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533811-BC98-C499-D241-0D106FB3721E}"/>
              </a:ext>
            </a:extLst>
          </p:cNvPr>
          <p:cNvSpPr txBox="1"/>
          <p:nvPr/>
        </p:nvSpPr>
        <p:spPr>
          <a:xfrm>
            <a:off x="8025944" y="465734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</a:t>
            </a:r>
            <a:endParaRPr lang="en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BE838-92A8-31D8-1829-C26707F98D24}"/>
              </a:ext>
            </a:extLst>
          </p:cNvPr>
          <p:cNvSpPr txBox="1"/>
          <p:nvPr/>
        </p:nvSpPr>
        <p:spPr>
          <a:xfrm>
            <a:off x="10196308" y="469749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258295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Зачем мы это придумали? 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2B9F07F-0731-2BD3-58FF-C5EF012283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0875" y="2350656"/>
            <a:ext cx="1970083" cy="2456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2F90E8-8DEF-0414-D060-5402D8E378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5917" y="2438400"/>
            <a:ext cx="1970083" cy="2456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382FDC-643A-319E-918C-807295873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0958" y="2438400"/>
            <a:ext cx="1970083" cy="2456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2CD4D-118C-5892-2493-A4DB22DA1D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999" y="2438400"/>
            <a:ext cx="2257467" cy="2815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B24EA-9F47-F0DB-34F3-A9E9BE7EE8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7347" y="2350656"/>
            <a:ext cx="2257467" cy="2815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C6C9FD-F29A-650B-E950-7F19A0F686AF}"/>
              </a:ext>
            </a:extLst>
          </p:cNvPr>
          <p:cNvSpPr txBox="1"/>
          <p:nvPr/>
        </p:nvSpPr>
        <p:spPr>
          <a:xfrm>
            <a:off x="5656359" y="1597109"/>
            <a:ext cx="879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QA Day</a:t>
            </a:r>
          </a:p>
        </p:txBody>
      </p:sp>
    </p:spTree>
    <p:extLst>
      <p:ext uri="{BB962C8B-B14F-4D97-AF65-F5344CB8AC3E}">
        <p14:creationId xmlns:p14="http://schemas.microsoft.com/office/powerpoint/2010/main" val="3518934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Доклады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81EE6-9130-22DD-4B4C-E06345FB50E0}"/>
              </a:ext>
            </a:extLst>
          </p:cNvPr>
          <p:cNvSpPr txBox="1"/>
          <p:nvPr/>
        </p:nvSpPr>
        <p:spPr>
          <a:xfrm>
            <a:off x="184910" y="4999204"/>
            <a:ext cx="294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Предложения по улучшению проекта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автотестирования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C75D746-4B66-6A05-F57A-B4F674070FF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34963" y="2108200"/>
            <a:ext cx="2641600" cy="2641600"/>
          </a:xfrm>
        </p:spPr>
      </p:pic>
      <p:pic>
        <p:nvPicPr>
          <p:cNvPr id="19" name="Picture Placeholder 18" descr="A person sitting in a chair in the snow&#10;&#10;Description automatically generated">
            <a:extLst>
              <a:ext uri="{FF2B5EF4-FFF2-40B4-BE49-F238E27FC236}">
                <a16:creationId xmlns:a16="http://schemas.microsoft.com/office/drawing/2014/main" id="{E523F2F9-1C92-FF32-2AE0-77444E2A421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48088" y="2108200"/>
            <a:ext cx="2641600" cy="2641600"/>
          </a:xfrm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19A8D854-C53D-2D75-2994-45895ADFB95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9626" y="2108200"/>
            <a:ext cx="2641600" cy="26416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39C852-ED55-7377-517C-028B2417DE9F}"/>
              </a:ext>
            </a:extLst>
          </p:cNvPr>
          <p:cNvSpPr txBox="1"/>
          <p:nvPr/>
        </p:nvSpPr>
        <p:spPr>
          <a:xfrm>
            <a:off x="3597746" y="5000438"/>
            <a:ext cx="294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Хук-функции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Пайтеста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для интеграции с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ТестРейл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8C8F7-84DA-9A82-B40F-2E64B63C4123}"/>
              </a:ext>
            </a:extLst>
          </p:cNvPr>
          <p:cNvSpPr txBox="1"/>
          <p:nvPr/>
        </p:nvSpPr>
        <p:spPr>
          <a:xfrm>
            <a:off x="7023485" y="5001983"/>
            <a:ext cx="294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Драматургия перехода: история о том как мы поменяли движок для тестирования </a:t>
            </a:r>
            <a:r>
              <a:rPr lang="en-GB" sz="1600" b="0" i="0" dirty="0">
                <a:solidFill>
                  <a:srgbClr val="333333"/>
                </a:solidFill>
                <a:effectLst/>
              </a:rPr>
              <a:t>UI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22" name="Прямая соединительная линия 3">
            <a:extLst>
              <a:ext uri="{FF2B5EF4-FFF2-40B4-BE49-F238E27FC236}">
                <a16:creationId xmlns:a16="http://schemas.microsoft.com/office/drawing/2014/main" id="{6B800F50-872F-5FC4-810F-EB64E7607AA3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2976563" y="3429000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Прямая соединительная линия 3">
            <a:extLst>
              <a:ext uri="{FF2B5EF4-FFF2-40B4-BE49-F238E27FC236}">
                <a16:creationId xmlns:a16="http://schemas.microsoft.com/office/drawing/2014/main" id="{320E7C24-01E0-1C08-38BD-1A01E1D1535B}"/>
              </a:ext>
            </a:extLst>
          </p:cNvPr>
          <p:cNvCxnSpPr>
            <a:cxnSpLocks/>
          </p:cNvCxnSpPr>
          <p:nvPr/>
        </p:nvCxnSpPr>
        <p:spPr>
          <a:xfrm flipH="1">
            <a:off x="6388101" y="3397624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D08A281-1493-701C-BCC7-DAA869431E48}"/>
              </a:ext>
            </a:extLst>
          </p:cNvPr>
          <p:cNvSpPr txBox="1"/>
          <p:nvPr/>
        </p:nvSpPr>
        <p:spPr>
          <a:xfrm>
            <a:off x="3202018" y="30282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C31638-7310-E742-F99D-B34AC6C757E1}"/>
              </a:ext>
            </a:extLst>
          </p:cNvPr>
          <p:cNvSpPr txBox="1"/>
          <p:nvPr/>
        </p:nvSpPr>
        <p:spPr>
          <a:xfrm>
            <a:off x="6517054" y="30282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A89DE-D794-B55E-84E8-081E1B59EA0F}"/>
              </a:ext>
            </a:extLst>
          </p:cNvPr>
          <p:cNvSpPr txBox="1"/>
          <p:nvPr/>
        </p:nvSpPr>
        <p:spPr>
          <a:xfrm>
            <a:off x="10107065" y="5089343"/>
            <a:ext cx="294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 err="1">
                <a:solidFill>
                  <a:srgbClr val="333333"/>
                </a:solidFill>
                <a:effectLst/>
              </a:rPr>
              <a:t>Сниффер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трафика в тестировании ПО </a:t>
            </a:r>
          </a:p>
        </p:txBody>
      </p:sp>
      <p:pic>
        <p:nvPicPr>
          <p:cNvPr id="17" name="Picture Placeholder 13" descr="A person in a white shirt&#10;&#10;Description automatically generated">
            <a:extLst>
              <a:ext uri="{FF2B5EF4-FFF2-40B4-BE49-F238E27FC236}">
                <a16:creationId xmlns:a16="http://schemas.microsoft.com/office/drawing/2014/main" id="{030506C3-D31A-355A-5787-442FF50F4F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57118" y="2198339"/>
            <a:ext cx="2641600" cy="2641600"/>
          </a:xfrm>
          <a:prstGeom prst="ellipse">
            <a:avLst/>
          </a:prstGeom>
          <a:solidFill>
            <a:schemeClr val="accent6"/>
          </a:solidFill>
        </p:spPr>
      </p:pic>
      <p:cxnSp>
        <p:nvCxnSpPr>
          <p:cNvPr id="20" name="Прямая соединительная линия 3">
            <a:extLst>
              <a:ext uri="{FF2B5EF4-FFF2-40B4-BE49-F238E27FC236}">
                <a16:creationId xmlns:a16="http://schemas.microsoft.com/office/drawing/2014/main" id="{76236848-9CC4-77B5-E20D-A762E1EBB00D}"/>
              </a:ext>
            </a:extLst>
          </p:cNvPr>
          <p:cNvCxnSpPr>
            <a:cxnSpLocks/>
          </p:cNvCxnSpPr>
          <p:nvPr/>
        </p:nvCxnSpPr>
        <p:spPr>
          <a:xfrm flipH="1">
            <a:off x="9722168" y="3397624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D70E56F-69E8-A86F-8809-7F4B62C5062D}"/>
              </a:ext>
            </a:extLst>
          </p:cNvPr>
          <p:cNvSpPr txBox="1"/>
          <p:nvPr/>
        </p:nvSpPr>
        <p:spPr>
          <a:xfrm>
            <a:off x="9851121" y="30282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pic>
        <p:nvPicPr>
          <p:cNvPr id="24" name="Picture Placeholder 16" descr="A person holding two microphones&#10;&#10;Description automatically generated">
            <a:extLst>
              <a:ext uri="{FF2B5EF4-FFF2-40B4-BE49-F238E27FC236}">
                <a16:creationId xmlns:a16="http://schemas.microsoft.com/office/drawing/2014/main" id="{899C72FA-90E6-D8D1-6688-99BA229C846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9" t="-1433" r="1111" b="18830"/>
          <a:stretch/>
        </p:blipFill>
        <p:spPr>
          <a:xfrm>
            <a:off x="14432522" y="2135088"/>
            <a:ext cx="2641600" cy="2641600"/>
          </a:xfrm>
          <a:prstGeom prst="ellipse">
            <a:avLst/>
          </a:prstGeom>
          <a:solidFill>
            <a:schemeClr val="accent6"/>
          </a:solidFill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BC5F41E-84E7-52E2-1284-ABEE9ECF2622}"/>
              </a:ext>
            </a:extLst>
          </p:cNvPr>
          <p:cNvSpPr txBox="1"/>
          <p:nvPr/>
        </p:nvSpPr>
        <p:spPr>
          <a:xfrm>
            <a:off x="14264252" y="5027326"/>
            <a:ext cx="294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Как оценить туда ли мы идем? Концепция оценки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бэклога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и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усмерения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всех видов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единорговзации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29" name="Прямая соединительная линия 3">
            <a:extLst>
              <a:ext uri="{FF2B5EF4-FFF2-40B4-BE49-F238E27FC236}">
                <a16:creationId xmlns:a16="http://schemas.microsoft.com/office/drawing/2014/main" id="{298EF869-4902-5BC3-5C9C-D15BA0143FF5}"/>
              </a:ext>
            </a:extLst>
          </p:cNvPr>
          <p:cNvCxnSpPr>
            <a:cxnSpLocks/>
          </p:cNvCxnSpPr>
          <p:nvPr/>
        </p:nvCxnSpPr>
        <p:spPr>
          <a:xfrm flipH="1">
            <a:off x="12848035" y="3429000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615FB7F-4979-4219-BF80-FDEBCB2AD8E1}"/>
              </a:ext>
            </a:extLst>
          </p:cNvPr>
          <p:cNvSpPr txBox="1"/>
          <p:nvPr/>
        </p:nvSpPr>
        <p:spPr>
          <a:xfrm>
            <a:off x="12976988" y="3059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4400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Доклады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81EE6-9130-22DD-4B4C-E06345FB50E0}"/>
              </a:ext>
            </a:extLst>
          </p:cNvPr>
          <p:cNvSpPr txBox="1"/>
          <p:nvPr/>
        </p:nvSpPr>
        <p:spPr>
          <a:xfrm>
            <a:off x="2804752" y="4882663"/>
            <a:ext cx="294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 err="1">
                <a:solidFill>
                  <a:srgbClr val="333333"/>
                </a:solidFill>
                <a:effectLst/>
              </a:rPr>
              <a:t>Сниффер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трафика в тестировании ПО 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Placeholder 13" descr="A person in a white shirt&#10;&#10;Description automatically generated">
            <a:extLst>
              <a:ext uri="{FF2B5EF4-FFF2-40B4-BE49-F238E27FC236}">
                <a16:creationId xmlns:a16="http://schemas.microsoft.com/office/drawing/2014/main" id="{321F0687-0BF2-1AAD-B8AD-079CA7529C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4805" y="1991659"/>
            <a:ext cx="2641600" cy="2641600"/>
          </a:xfrm>
        </p:spPr>
      </p:pic>
      <p:pic>
        <p:nvPicPr>
          <p:cNvPr id="17" name="Picture Placeholder 16" descr="A person holding two microphones&#10;&#10;Description automatically generated">
            <a:extLst>
              <a:ext uri="{FF2B5EF4-FFF2-40B4-BE49-F238E27FC236}">
                <a16:creationId xmlns:a16="http://schemas.microsoft.com/office/drawing/2014/main" id="{A0C1BF67-E177-99F2-BA8C-5295D416757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9" t="-1433" r="1111" b="18830"/>
          <a:stretch/>
        </p:blipFill>
        <p:spPr>
          <a:xfrm>
            <a:off x="6385858" y="1991659"/>
            <a:ext cx="2641600" cy="26416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39C852-ED55-7377-517C-028B2417DE9F}"/>
              </a:ext>
            </a:extLst>
          </p:cNvPr>
          <p:cNvSpPr txBox="1"/>
          <p:nvPr/>
        </p:nvSpPr>
        <p:spPr>
          <a:xfrm>
            <a:off x="6217588" y="4883897"/>
            <a:ext cx="294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Как оценить</a:t>
            </a:r>
            <a:r>
              <a:rPr lang="en-US" sz="1600" b="0" i="0" dirty="0">
                <a:solidFill>
                  <a:srgbClr val="333333"/>
                </a:solidFill>
                <a:effectLst/>
              </a:rPr>
              <a:t>,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туда ли мы идем? Концепция оценки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бэклога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и усмирения всех видов единорогов</a:t>
            </a:r>
          </a:p>
        </p:txBody>
      </p:sp>
      <p:cxnSp>
        <p:nvCxnSpPr>
          <p:cNvPr id="19" name="Прямая соединительная линия 3">
            <a:extLst>
              <a:ext uri="{FF2B5EF4-FFF2-40B4-BE49-F238E27FC236}">
                <a16:creationId xmlns:a16="http://schemas.microsoft.com/office/drawing/2014/main" id="{970B43A0-73BC-9323-2D75-44CB9E0A6B93}"/>
              </a:ext>
            </a:extLst>
          </p:cNvPr>
          <p:cNvCxnSpPr>
            <a:cxnSpLocks/>
          </p:cNvCxnSpPr>
          <p:nvPr/>
        </p:nvCxnSpPr>
        <p:spPr>
          <a:xfrm flipH="1">
            <a:off x="5605369" y="3258670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B3E565-7E89-CC6C-681D-12BDE98A98AC}"/>
              </a:ext>
            </a:extLst>
          </p:cNvPr>
          <p:cNvSpPr txBox="1"/>
          <p:nvPr/>
        </p:nvSpPr>
        <p:spPr>
          <a:xfrm>
            <a:off x="5753894" y="28192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pic>
        <p:nvPicPr>
          <p:cNvPr id="2" name="Picture Placeholder 15">
            <a:extLst>
              <a:ext uri="{FF2B5EF4-FFF2-40B4-BE49-F238E27FC236}">
                <a16:creationId xmlns:a16="http://schemas.microsoft.com/office/drawing/2014/main" id="{7AEA2E1B-8F59-F45E-5A5C-5C2CF6FFF2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-7211031" y="1991659"/>
            <a:ext cx="2641600" cy="2641600"/>
          </a:xfrm>
          <a:prstGeom prst="ellipse">
            <a:avLst/>
          </a:prstGeom>
          <a:solidFill>
            <a:schemeClr val="accent6"/>
          </a:solidFill>
        </p:spPr>
      </p:pic>
      <p:pic>
        <p:nvPicPr>
          <p:cNvPr id="3" name="Picture Placeholder 18" descr="A person sitting in a chair in the snow&#10;&#10;Description automatically generated">
            <a:extLst>
              <a:ext uri="{FF2B5EF4-FFF2-40B4-BE49-F238E27FC236}">
                <a16:creationId xmlns:a16="http://schemas.microsoft.com/office/drawing/2014/main" id="{4FDE1AA0-5F21-F76C-50D6-F3591B5D99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797906" y="1991659"/>
            <a:ext cx="2641600" cy="2641600"/>
          </a:xfrm>
          <a:prstGeom prst="ellipse">
            <a:avLst/>
          </a:prstGeom>
          <a:solidFill>
            <a:schemeClr val="accent6"/>
          </a:solidFill>
        </p:spPr>
      </p:pic>
      <p:pic>
        <p:nvPicPr>
          <p:cNvPr id="4" name="Picture Placeholder 20">
            <a:extLst>
              <a:ext uri="{FF2B5EF4-FFF2-40B4-BE49-F238E27FC236}">
                <a16:creationId xmlns:a16="http://schemas.microsoft.com/office/drawing/2014/main" id="{E9E4F85B-3FB8-836C-9495-CFB9988B3D8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86368" y="1991659"/>
            <a:ext cx="2641600" cy="2641600"/>
          </a:xfrm>
        </p:spPr>
      </p:pic>
      <p:cxnSp>
        <p:nvCxnSpPr>
          <p:cNvPr id="5" name="Прямая соединительная линия 3">
            <a:extLst>
              <a:ext uri="{FF2B5EF4-FFF2-40B4-BE49-F238E27FC236}">
                <a16:creationId xmlns:a16="http://schemas.microsoft.com/office/drawing/2014/main" id="{B233AC87-9550-76DB-2DA9-38C6338F9EE3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-4569431" y="3312459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Прямая соединительная линия 3">
            <a:extLst>
              <a:ext uri="{FF2B5EF4-FFF2-40B4-BE49-F238E27FC236}">
                <a16:creationId xmlns:a16="http://schemas.microsoft.com/office/drawing/2014/main" id="{EF01BFC6-6865-3429-89AA-503B75B383A1}"/>
              </a:ext>
            </a:extLst>
          </p:cNvPr>
          <p:cNvCxnSpPr>
            <a:cxnSpLocks/>
          </p:cNvCxnSpPr>
          <p:nvPr/>
        </p:nvCxnSpPr>
        <p:spPr>
          <a:xfrm flipH="1">
            <a:off x="-1157893" y="3281083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B7D8274-5D06-9390-3DCE-3444CA8974A5}"/>
              </a:ext>
            </a:extLst>
          </p:cNvPr>
          <p:cNvSpPr txBox="1"/>
          <p:nvPr/>
        </p:nvSpPr>
        <p:spPr>
          <a:xfrm>
            <a:off x="-4343976" y="2911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F83A1D-1F05-BB29-FBEC-1ED446B14E26}"/>
              </a:ext>
            </a:extLst>
          </p:cNvPr>
          <p:cNvSpPr txBox="1"/>
          <p:nvPr/>
        </p:nvSpPr>
        <p:spPr>
          <a:xfrm>
            <a:off x="-1028940" y="2911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cxnSp>
        <p:nvCxnSpPr>
          <p:cNvPr id="22" name="Прямая соединительная линия 3">
            <a:extLst>
              <a:ext uri="{FF2B5EF4-FFF2-40B4-BE49-F238E27FC236}">
                <a16:creationId xmlns:a16="http://schemas.microsoft.com/office/drawing/2014/main" id="{265D71B6-945D-EF71-0CA1-555BB35AD7BA}"/>
              </a:ext>
            </a:extLst>
          </p:cNvPr>
          <p:cNvCxnSpPr>
            <a:cxnSpLocks/>
          </p:cNvCxnSpPr>
          <p:nvPr/>
        </p:nvCxnSpPr>
        <p:spPr>
          <a:xfrm flipH="1">
            <a:off x="2176174" y="3281083"/>
            <a:ext cx="771525" cy="0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 w="lg" len="lg"/>
            <a:tailEnd type="non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F3F296-0138-45A5-16E3-EF5B96AC456D}"/>
              </a:ext>
            </a:extLst>
          </p:cNvPr>
          <p:cNvSpPr txBox="1"/>
          <p:nvPr/>
        </p:nvSpPr>
        <p:spPr>
          <a:xfrm>
            <a:off x="2305127" y="2911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  <a:endParaRPr lang="en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9838B8-0D21-1C93-B6E8-08615CB61A64}"/>
              </a:ext>
            </a:extLst>
          </p:cNvPr>
          <p:cNvSpPr txBox="1"/>
          <p:nvPr/>
        </p:nvSpPr>
        <p:spPr>
          <a:xfrm>
            <a:off x="-7524143" y="4750881"/>
            <a:ext cx="294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Предложения по улучшению проекта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автотестирования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38925B-E79C-9C7D-4B2D-BD3359F6BEAA}"/>
              </a:ext>
            </a:extLst>
          </p:cNvPr>
          <p:cNvSpPr txBox="1"/>
          <p:nvPr/>
        </p:nvSpPr>
        <p:spPr>
          <a:xfrm>
            <a:off x="-4111307" y="4752115"/>
            <a:ext cx="294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Хук-функции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Пайтеста</a:t>
            </a:r>
            <a:r>
              <a:rPr lang="ru-RU" sz="1600" b="0" i="0" dirty="0">
                <a:solidFill>
                  <a:srgbClr val="333333"/>
                </a:solidFill>
                <a:effectLst/>
              </a:rPr>
              <a:t> для интеграции с </a:t>
            </a:r>
            <a:r>
              <a:rPr lang="ru-RU" sz="1600" b="0" i="0" dirty="0" err="1">
                <a:solidFill>
                  <a:srgbClr val="333333"/>
                </a:solidFill>
                <a:effectLst/>
              </a:rPr>
              <a:t>ТестРейл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2E1D1B-7403-335A-E5DE-E7FAE6C7B0FC}"/>
              </a:ext>
            </a:extLst>
          </p:cNvPr>
          <p:cNvSpPr txBox="1"/>
          <p:nvPr/>
        </p:nvSpPr>
        <p:spPr>
          <a:xfrm>
            <a:off x="-685568" y="4753660"/>
            <a:ext cx="294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>
                <a:solidFill>
                  <a:srgbClr val="333333"/>
                </a:solidFill>
                <a:effectLst/>
              </a:rPr>
              <a:t>Драматургия перехода: история о том как мы поменяли движок для тестирования </a:t>
            </a:r>
            <a:r>
              <a:rPr lang="en-GB" sz="1600" b="0" i="0" dirty="0">
                <a:solidFill>
                  <a:srgbClr val="333333"/>
                </a:solidFill>
                <a:effectLst/>
              </a:rPr>
              <a:t>UI</a:t>
            </a:r>
            <a:endParaRPr lang="ru-RU" sz="16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64633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Ретро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582A68-2B5B-FF30-CEA2-3B12C9035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486" y="1296436"/>
            <a:ext cx="5523027" cy="447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61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Медиа азбука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chat&#10;&#10;Description automatically generated">
            <a:extLst>
              <a:ext uri="{FF2B5EF4-FFF2-40B4-BE49-F238E27FC236}">
                <a16:creationId xmlns:a16="http://schemas.microsoft.com/office/drawing/2014/main" id="{168114E8-E40B-03A4-51F2-44E3BBF364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425" y="1272812"/>
            <a:ext cx="9167149" cy="510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1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661619" y="3105834"/>
            <a:ext cx="10511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Топ </a:t>
            </a:r>
            <a:r>
              <a:rPr lang="ru-RU" sz="3600" strike="sng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10</a:t>
            </a:r>
            <a:r>
              <a:rPr lang="ru-RU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6 косяков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3188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 </a:t>
            </a:r>
            <a:r>
              <a:rPr lang="ru-RU" sz="3600" dirty="0">
                <a:latin typeface="+mj-lt"/>
              </a:rPr>
              <a:t>6 косяков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661619" y="3197032"/>
            <a:ext cx="10511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2400" dirty="0"/>
              <a:t>Нельзя делать скрины </a:t>
            </a:r>
            <a:r>
              <a:rPr lang="en-US" sz="2400" dirty="0"/>
              <a:t>IDE </a:t>
            </a:r>
            <a:r>
              <a:rPr lang="ru-RU" sz="2400" dirty="0"/>
              <a:t>в темной теме</a:t>
            </a:r>
            <a:r>
              <a:rPr lang="en-US" sz="2400" dirty="0"/>
              <a:t>, </a:t>
            </a:r>
            <a:r>
              <a:rPr lang="ru-RU" sz="2400" dirty="0"/>
              <a:t>проектор не вывозит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5278056"/>
            <a:ext cx="1828800" cy="1579944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66213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 </a:t>
            </a:r>
            <a:r>
              <a:rPr lang="ru-RU" sz="3600" dirty="0">
                <a:latin typeface="+mj-lt"/>
              </a:rPr>
              <a:t>6 косяков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515444" y="3197032"/>
            <a:ext cx="10511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2400" dirty="0"/>
              <a:t>Если очень хочется темную тему на скринах то нужен зал с блэкаутом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5278056"/>
            <a:ext cx="1828800" cy="1579944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784093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 </a:t>
            </a:r>
            <a:r>
              <a:rPr lang="ru-RU" sz="3600" dirty="0">
                <a:latin typeface="+mj-lt"/>
              </a:rPr>
              <a:t>6 косяков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498291" y="3197032"/>
            <a:ext cx="10511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2400" dirty="0"/>
              <a:t>Обед лучше организовать централизованно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5231757"/>
            <a:ext cx="1828800" cy="1626243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27304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 </a:t>
            </a:r>
            <a:r>
              <a:rPr lang="ru-RU" sz="3600" dirty="0">
                <a:latin typeface="+mj-lt"/>
              </a:rPr>
              <a:t>6 косяков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459504" y="3364309"/>
            <a:ext cx="10511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2400" dirty="0"/>
              <a:t>Делайте репетиции всех форматов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5197033"/>
            <a:ext cx="1828800" cy="1662222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95102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 </a:t>
            </a:r>
            <a:r>
              <a:rPr lang="ru-RU" sz="3600" dirty="0">
                <a:latin typeface="+mj-lt"/>
              </a:rPr>
              <a:t>6 косяков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498291" y="3225013"/>
            <a:ext cx="10511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2400" dirty="0"/>
              <a:t>Если вы собирайтесь тащить кучу столов на 4 этаж</a:t>
            </a:r>
            <a:r>
              <a:rPr lang="en-US" sz="2400" dirty="0"/>
              <a:t>,</a:t>
            </a:r>
            <a:r>
              <a:rPr lang="ru-RU" sz="2400" dirty="0"/>
              <a:t> вам нужно больше двух людей</a:t>
            </a:r>
            <a:r>
              <a:rPr lang="en-US" sz="2400" dirty="0"/>
              <a:t>. </a:t>
            </a:r>
            <a:endParaRPr lang="ru-R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4971816"/>
            <a:ext cx="1828800" cy="1886184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58731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 </a:t>
            </a:r>
            <a:r>
              <a:rPr lang="ru-RU" sz="3600" dirty="0">
                <a:latin typeface="+mj-lt"/>
              </a:rPr>
              <a:t>6 косяков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ECD31-E5E9-3D4F-CEA6-31B7243F2137}"/>
              </a:ext>
            </a:extLst>
          </p:cNvPr>
          <p:cNvSpPr txBox="1"/>
          <p:nvPr/>
        </p:nvSpPr>
        <p:spPr>
          <a:xfrm>
            <a:off x="515444" y="3225013"/>
            <a:ext cx="10511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2400" dirty="0"/>
              <a:t>Есть в городе бары лучше Ельцина</a:t>
            </a:r>
            <a:r>
              <a:rPr lang="en-US" sz="2400" dirty="0"/>
              <a:t>…</a:t>
            </a:r>
            <a:endParaRPr lang="ru-R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DA21-99C8-06F7-4985-4BDCFFD30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527" y="801984"/>
            <a:ext cx="2360510" cy="24230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D6171E-F48B-619A-250F-6BC176277995}"/>
              </a:ext>
            </a:extLst>
          </p:cNvPr>
          <p:cNvSpPr/>
          <p:nvPr/>
        </p:nvSpPr>
        <p:spPr>
          <a:xfrm>
            <a:off x="515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EAA7-7AFE-0383-541E-3EDC34DF7673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53082-EC14-A43C-DC32-DE5F4E2A5A0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6C9D9-3639-61F6-4722-4BC56D2B28B0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D52C7-97BE-1F60-A27B-634FB6CD8FB3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54FA-4016-4B6B-C523-6E7AB26721DE}"/>
              </a:ext>
            </a:extLst>
          </p:cNvPr>
          <p:cNvSpPr/>
          <p:nvPr/>
        </p:nvSpPr>
        <p:spPr>
          <a:xfrm>
            <a:off x="9659444" y="5197033"/>
            <a:ext cx="1828800" cy="1660967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3695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01292" y="2828835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55663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37F95-6EA5-0308-5158-B6C4C371F4AA}"/>
              </a:ext>
            </a:extLst>
          </p:cNvPr>
          <p:cNvSpPr txBox="1"/>
          <p:nvPr/>
        </p:nvSpPr>
        <p:spPr>
          <a:xfrm>
            <a:off x="686790" y="3044279"/>
            <a:ext cx="1063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Классные доклады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5388429"/>
            <a:ext cx="1828800" cy="1469570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511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37F95-6EA5-0308-5158-B6C4C371F4AA}"/>
              </a:ext>
            </a:extLst>
          </p:cNvPr>
          <p:cNvSpPr txBox="1"/>
          <p:nvPr/>
        </p:nvSpPr>
        <p:spPr>
          <a:xfrm>
            <a:off x="542718" y="3286737"/>
            <a:ext cx="1063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Крутые обсуждения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5007429"/>
            <a:ext cx="1828800" cy="1850571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2747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37F95-6EA5-0308-5158-B6C4C371F4AA}"/>
              </a:ext>
            </a:extLst>
          </p:cNvPr>
          <p:cNvSpPr txBox="1"/>
          <p:nvPr/>
        </p:nvSpPr>
        <p:spPr>
          <a:xfrm>
            <a:off x="515444" y="3044279"/>
            <a:ext cx="1063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Живое ретро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5072743"/>
            <a:ext cx="1828800" cy="1785257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53857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37F95-6EA5-0308-5158-B6C4C371F4AA}"/>
              </a:ext>
            </a:extLst>
          </p:cNvPr>
          <p:cNvSpPr txBox="1"/>
          <p:nvPr/>
        </p:nvSpPr>
        <p:spPr>
          <a:xfrm>
            <a:off x="686790" y="3429000"/>
            <a:ext cx="1063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Довольные люди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5192486"/>
            <a:ext cx="1828800" cy="1666769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02311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37F95-6EA5-0308-5158-B6C4C371F4AA}"/>
              </a:ext>
            </a:extLst>
          </p:cNvPr>
          <p:cNvSpPr txBox="1"/>
          <p:nvPr/>
        </p:nvSpPr>
        <p:spPr>
          <a:xfrm>
            <a:off x="542718" y="3348705"/>
            <a:ext cx="1063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Хорошо проведенное время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4963886"/>
            <a:ext cx="1828800" cy="1894114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10006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Топ </a:t>
            </a:r>
            <a:r>
              <a:rPr lang="ru-RU" sz="3600" strike="sngStrike" dirty="0">
                <a:latin typeface="+mj-lt"/>
              </a:rPr>
              <a:t>10</a:t>
            </a:r>
            <a:r>
              <a:rPr lang="ru-RU" sz="3600" dirty="0">
                <a:latin typeface="+mj-lt"/>
              </a:rPr>
              <a:t> 6 крутых вещей которые мы получили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37F95-6EA5-0308-5158-B6C4C371F4AA}"/>
              </a:ext>
            </a:extLst>
          </p:cNvPr>
          <p:cNvSpPr txBox="1"/>
          <p:nvPr/>
        </p:nvSpPr>
        <p:spPr>
          <a:xfrm>
            <a:off x="686790" y="3204245"/>
            <a:ext cx="1063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Рефлексия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637A-87C4-F053-1C4E-68B9FFF15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263" y="704964"/>
            <a:ext cx="2809677" cy="3076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F5B0BB-5871-15A5-0275-54A38395DBF7}"/>
              </a:ext>
            </a:extLst>
          </p:cNvPr>
          <p:cNvSpPr/>
          <p:nvPr/>
        </p:nvSpPr>
        <p:spPr>
          <a:xfrm>
            <a:off x="515444" y="6065133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46C-EFB8-147C-5079-D59E91DC5431}"/>
              </a:ext>
            </a:extLst>
          </p:cNvPr>
          <p:cNvSpPr/>
          <p:nvPr/>
        </p:nvSpPr>
        <p:spPr>
          <a:xfrm>
            <a:off x="23442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718B2-A17E-6845-2A4A-9AC099E27AC9}"/>
              </a:ext>
            </a:extLst>
          </p:cNvPr>
          <p:cNvSpPr/>
          <p:nvPr/>
        </p:nvSpPr>
        <p:spPr>
          <a:xfrm>
            <a:off x="41730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E785F-7C5B-6567-BA9A-8F5A9FEEB4B2}"/>
              </a:ext>
            </a:extLst>
          </p:cNvPr>
          <p:cNvSpPr/>
          <p:nvPr/>
        </p:nvSpPr>
        <p:spPr>
          <a:xfrm>
            <a:off x="6001844" y="6066389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D3279-F027-219C-4C1D-4557E75D5D28}"/>
              </a:ext>
            </a:extLst>
          </p:cNvPr>
          <p:cNvSpPr/>
          <p:nvPr/>
        </p:nvSpPr>
        <p:spPr>
          <a:xfrm>
            <a:off x="7830644" y="6065134"/>
            <a:ext cx="1828800" cy="7928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F9379B-4ECB-619B-261D-11C26243B76F}"/>
              </a:ext>
            </a:extLst>
          </p:cNvPr>
          <p:cNvSpPr/>
          <p:nvPr/>
        </p:nvSpPr>
        <p:spPr>
          <a:xfrm>
            <a:off x="9659444" y="5181600"/>
            <a:ext cx="1828800" cy="1676400"/>
          </a:xfrm>
          <a:prstGeom prst="rect">
            <a:avLst/>
          </a:prstGeom>
          <a:solidFill>
            <a:srgbClr val="145FF5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1605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EF669-5C6E-6646-B920-890448A51DE7}"/>
              </a:ext>
            </a:extLst>
          </p:cNvPr>
          <p:cNvSpPr txBox="1"/>
          <p:nvPr/>
        </p:nvSpPr>
        <p:spPr>
          <a:xfrm>
            <a:off x="334963" y="478819"/>
            <a:ext cx="7743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j-lt"/>
              </a:rPr>
              <a:t>Bonus Track</a:t>
            </a:r>
            <a:endParaRPr lang="ru-RU" sz="3600" dirty="0">
              <a:latin typeface="+mj-lt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A8503E-25D2-D29E-857F-E0EF2E713520}"/>
              </a:ext>
            </a:extLst>
          </p:cNvPr>
          <p:cNvGrpSpPr/>
          <p:nvPr/>
        </p:nvGrpSpPr>
        <p:grpSpPr>
          <a:xfrm>
            <a:off x="334963" y="257408"/>
            <a:ext cx="11522075" cy="221783"/>
            <a:chOff x="334963" y="768229"/>
            <a:chExt cx="11522075" cy="22178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75567A-B8DE-B287-D133-3E181FA7428E}"/>
                </a:ext>
              </a:extLst>
            </p:cNvPr>
            <p:cNvGrpSpPr/>
            <p:nvPr/>
          </p:nvGrpSpPr>
          <p:grpSpPr>
            <a:xfrm>
              <a:off x="11347737" y="768229"/>
              <a:ext cx="509301" cy="221783"/>
              <a:chOff x="4335357" y="4190795"/>
              <a:chExt cx="730356" cy="318045"/>
            </a:xfrm>
            <a:solidFill>
              <a:schemeClr val="accent1"/>
            </a:solidFill>
          </p:grpSpPr>
          <p:pic>
            <p:nvPicPr>
              <p:cNvPr id="9" name="Image 0" descr=" ">
                <a:extLst>
                  <a:ext uri="{FF2B5EF4-FFF2-40B4-BE49-F238E27FC236}">
                    <a16:creationId xmlns:a16="http://schemas.microsoft.com/office/drawing/2014/main" id="{1834CAB3-FCD7-4CBA-C132-A4DDA60BB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47761" y="4190795"/>
                <a:ext cx="317952" cy="317909"/>
              </a:xfrm>
              <a:prstGeom prst="rect">
                <a:avLst/>
              </a:prstGeom>
            </p:spPr>
          </p:pic>
          <p:pic>
            <p:nvPicPr>
              <p:cNvPr id="10" name="Image 1" descr=" ">
                <a:extLst>
                  <a:ext uri="{FF2B5EF4-FFF2-40B4-BE49-F238E27FC236}">
                    <a16:creationId xmlns:a16="http://schemas.microsoft.com/office/drawing/2014/main" id="{1094D58D-6770-57B6-C437-7FDA4EAA5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11615" y="4191765"/>
                <a:ext cx="250781" cy="317075"/>
              </a:xfrm>
              <a:prstGeom prst="rect">
                <a:avLst/>
              </a:prstGeom>
            </p:spPr>
          </p:pic>
          <p:pic>
            <p:nvPicPr>
              <p:cNvPr id="11" name="Image 2" descr=" ">
                <a:extLst>
                  <a:ext uri="{FF2B5EF4-FFF2-40B4-BE49-F238E27FC236}">
                    <a16:creationId xmlns:a16="http://schemas.microsoft.com/office/drawing/2014/main" id="{35E19076-D830-5E8C-2463-07A95D4E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35357" y="4191864"/>
                <a:ext cx="201492" cy="316443"/>
              </a:xfrm>
              <a:prstGeom prst="rect">
                <a:avLst/>
              </a:prstGeom>
            </p:spPr>
          </p:pic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37DBD51D-D595-8943-9252-3133326A6F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879120"/>
              <a:ext cx="1083786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qr code with a ufo&#10;&#10;Description automatically generated">
            <a:extLst>
              <a:ext uri="{FF2B5EF4-FFF2-40B4-BE49-F238E27FC236}">
                <a16:creationId xmlns:a16="http://schemas.microsoft.com/office/drawing/2014/main" id="{F87D235F-5247-3053-C06D-5AF03747C8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49" y="1659163"/>
            <a:ext cx="3946979" cy="39469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A403F1-9B02-646F-E1E0-C62A522A7DBD}"/>
              </a:ext>
            </a:extLst>
          </p:cNvPr>
          <p:cNvSpPr txBox="1"/>
          <p:nvPr/>
        </p:nvSpPr>
        <p:spPr>
          <a:xfrm>
            <a:off x="5987143" y="2601600"/>
            <a:ext cx="477303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Как создавать и развивать</a:t>
            </a:r>
          </a:p>
          <a:p>
            <a:r>
              <a:rPr lang="ru-RU" sz="3200" dirty="0"/>
              <a:t>внутренние</a:t>
            </a:r>
          </a:p>
          <a:p>
            <a:r>
              <a:rPr lang="ru-RU" sz="3200" dirty="0"/>
              <a:t>профессиональные</a:t>
            </a:r>
          </a:p>
          <a:p>
            <a:r>
              <a:rPr lang="ru-RU" sz="3200" dirty="0"/>
              <a:t>сообщества</a:t>
            </a:r>
            <a:endParaRPr lang="en-RU" sz="3200" dirty="0"/>
          </a:p>
        </p:txBody>
      </p:sp>
    </p:spTree>
    <p:extLst>
      <p:ext uri="{BB962C8B-B14F-4D97-AF65-F5344CB8AC3E}">
        <p14:creationId xmlns:p14="http://schemas.microsoft.com/office/powerpoint/2010/main" val="2973125949"/>
      </p:ext>
    </p:extLst>
  </p:cSld>
  <p:clrMapOvr>
    <a:masterClrMapping/>
  </p:clrMapOvr>
</p:sld>
</file>

<file path=ppt/theme/theme1.xml><?xml version="1.0" encoding="utf-8"?>
<a:theme xmlns:a="http://schemas.openxmlformats.org/drawingml/2006/main" name="Zun_Main_Template">
  <a:themeElements>
    <a:clrScheme name="Zunami_Main_Template">
      <a:dk1>
        <a:srgbClr val="14141A"/>
      </a:dk1>
      <a:lt1>
        <a:srgbClr val="F5F6FC"/>
      </a:lt1>
      <a:dk2>
        <a:srgbClr val="14141A"/>
      </a:dk2>
      <a:lt2>
        <a:srgbClr val="F5F6FC"/>
      </a:lt2>
      <a:accent1>
        <a:srgbClr val="FF7022"/>
      </a:accent1>
      <a:accent2>
        <a:srgbClr val="FF9137"/>
      </a:accent2>
      <a:accent3>
        <a:srgbClr val="FF9137"/>
      </a:accent3>
      <a:accent4>
        <a:srgbClr val="FFB070"/>
      </a:accent4>
      <a:accent5>
        <a:srgbClr val="FFC595"/>
      </a:accent5>
      <a:accent6>
        <a:srgbClr val="FFEAD9"/>
      </a:accent6>
      <a:hlink>
        <a:srgbClr val="145FF5"/>
      </a:hlink>
      <a:folHlink>
        <a:srgbClr val="558EFF"/>
      </a:folHlink>
    </a:clrScheme>
    <a:fontScheme name="Zunami_Font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n_Main_Template" id="{6A7BBC7A-25DE-46E0-B66E-4511C6CC4067}" vid="{F23590FC-5C67-49DF-BB28-8A3444403F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</TotalTime>
  <Words>388</Words>
  <Application>Microsoft Macintosh PowerPoint</Application>
  <PresentationFormat>Widescreen</PresentationFormat>
  <Paragraphs>155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Golos Text</vt:lpstr>
      <vt:lpstr>Golos Text DemiBold</vt:lpstr>
      <vt:lpstr>Zun_Main_Template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Андреева</dc:creator>
  <cp:lastModifiedBy>Пироженко Захар</cp:lastModifiedBy>
  <cp:revision>14</cp:revision>
  <dcterms:created xsi:type="dcterms:W3CDTF">2024-04-02T12:26:41Z</dcterms:created>
  <dcterms:modified xsi:type="dcterms:W3CDTF">2024-07-24T08:20:16Z</dcterms:modified>
</cp:coreProperties>
</file>